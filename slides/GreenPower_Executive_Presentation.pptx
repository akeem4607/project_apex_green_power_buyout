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charts/chart3.xml" ContentType="application/vnd.openxmlformats-officedocument.drawingml.chart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1E2761"/>
                </a:solidFill>
                <a:latin typeface="Calibri"/>
              </a:defRPr>
            </a:pPr>
            <a:r>
              <a:rPr sz="1300" b="0" i="0" u="none" strike="noStrike">
                <a:solidFill>
                  <a:srgbClr val="1E2761"/>
                </a:solidFill>
                <a:latin typeface="Calibri"/>
              </a:rPr>
              <a:t>Revenue ($M)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Revenue ($M)</c:v>
                </c:pt>
              </c:strCache>
            </c:strRef>
          </c:tx>
          <c:spPr>
            <a:solidFill>
              <a:srgbClr val="1E2761"/>
            </a:solidFill>
            <a:effectLst/>
          </c:spPr>
          <c:invertIfNegative val="0"/>
          <c:dLbls>
            <c:numFmt formatCode="&quot;$&quot;#,##0.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333333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FY2023</c:v>
                  </c:pt>
                  <c:pt idx="1">
                    <c:v>FY2024</c:v>
                  </c:pt>
                  <c:pt idx="2">
                    <c:v>FY2025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39.696</c:v>
                </c:pt>
                <c:pt idx="1">
                  <c:v>39.272</c:v>
                </c:pt>
                <c:pt idx="2">
                  <c:v>19.847</c:v>
                </c:pt>
              </c:numCache>
            </c:numRef>
          </c:val>
        </c:ser>
        <c:dLbls>
          <c:numFmt formatCode="&quot;$&quot;#,##0.0" sourceLinked="0"/>
          <c:txPr>
            <a:bodyPr/>
            <a:lstStyle/>
            <a:p>
              <a:pPr>
                <a:defRPr b="0" i="0" strike="noStrike" sz="1100" u="none">
                  <a:solidFill>
                    <a:srgbClr val="333333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CCCCCC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55555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EDEDED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999999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1E2761"/>
                </a:solidFill>
                <a:latin typeface="Calibri"/>
              </a:defRPr>
            </a:pPr>
            <a:r>
              <a:rPr sz="1300" b="0" i="0" u="none" strike="noStrike">
                <a:solidFill>
                  <a:srgbClr val="1E2761"/>
                </a:solidFill>
                <a:latin typeface="Calibri"/>
              </a:rPr>
              <a:t>Margin Trends (%)</a:t>
            </a:r>
          </a:p>
        </c:rich>
      </c:tx>
      <c:layout/>
      <c:overlay val="0"/>
    </c:title>
    <c:autoTitleDeleted val="0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Gross Margin %</c:v>
                </c:pt>
              </c:strCache>
            </c:strRef>
          </c:tx>
          <c:spPr>
            <a:solidFill>
              <a:srgbClr val="2C5F2D"/>
            </a:solidFill>
            <a:ln w="31750" cap="flat">
              <a:solidFill>
                <a:srgbClr val="2C5F2D"/>
              </a:solidFill>
              <a:prstDash val="solid"/>
              <a:round/>
            </a:ln>
            <a:effectLst/>
          </c:spPr>
          <c:invertIfNegative val="0"/>
          <c:dLbls>
            <c:numFmt formatCode="0.0&quot;%&quot;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333333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2C5F2D"/>
              </a:solidFill>
              <a:ln w="9525" cap="flat">
                <a:solidFill>
                  <a:srgbClr val="2C5F2D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Sheet1!$A$2:$A$4</c:f>
              <c:multiLvlStrCache>
                <c:ptCount val="3"/>
                <c:lvl>
                  <c:pt idx="0">
                    <c:v>FY2023</c:v>
                  </c:pt>
                  <c:pt idx="1">
                    <c:v>FY2024</c:v>
                  </c:pt>
                  <c:pt idx="2">
                    <c:v>FY2025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18.26</c:v>
                </c:pt>
                <c:pt idx="1">
                  <c:v>13.64</c:v>
                </c:pt>
                <c:pt idx="2">
                  <c:v>11.07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EBIT Margin %</c:v>
                </c:pt>
              </c:strCache>
            </c:strRef>
          </c:tx>
          <c:spPr>
            <a:solidFill>
              <a:srgbClr val="C0392B"/>
            </a:solidFill>
            <a:ln w="31750" cap="flat">
              <a:solidFill>
                <a:srgbClr val="C0392B"/>
              </a:solidFill>
              <a:prstDash val="solid"/>
              <a:round/>
            </a:ln>
            <a:effectLst/>
          </c:spPr>
          <c:invertIfNegative val="0"/>
          <c:dLbls>
            <c:numFmt formatCode="0.0&quot;%&quot;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333333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C0392B"/>
              </a:solidFill>
              <a:ln w="9525" cap="flat">
                <a:solidFill>
                  <a:srgbClr val="C0392B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Sheet1!$A$2:$A$4</c:f>
              <c:multiLvlStrCache>
                <c:ptCount val="3"/>
                <c:lvl>
                  <c:pt idx="0">
                    <c:v>FY2023</c:v>
                  </c:pt>
                  <c:pt idx="1">
                    <c:v>FY2024</c:v>
                  </c:pt>
                  <c:pt idx="2">
                    <c:v>FY2025</c:v>
                  </c:pt>
                </c:lvl>
              </c:multiLvlStrCache>
            </c:multiLvl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-33.47</c:v>
                </c:pt>
                <c:pt idx="1">
                  <c:v>-42.78</c:v>
                </c:pt>
                <c:pt idx="2">
                  <c:v>-90.29</c:v>
                </c:pt>
              </c:numCache>
            </c:numRef>
          </c:val>
          <c:smooth val="0"/>
        </c:ser>
        <c:dLbls>
          <c:numFmt formatCode="0.0&quot;%&quot;" sourceLinked="0"/>
          <c:txPr>
            <a:bodyPr/>
            <a:lstStyle/>
            <a:p>
              <a:pPr>
                <a:defRPr b="0" i="0" strike="noStrike" sz="900" u="none">
                  <a:solidFill>
                    <a:srgbClr val="333333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CCCCCC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55555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EDEDED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999999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900">
              <a:solidFill>
                <a:srgbClr val="555555"/>
              </a:solidFill>
            </a:defRPr>
          </a:pPr>
          <a:endParaRPr lang="en-US"/>
        </a:p>
      </c:txPr>
    </c:legend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1E2761"/>
                </a:solidFill>
                <a:latin typeface="Calibri"/>
              </a:defRPr>
            </a:pPr>
            <a:r>
              <a:rPr sz="1300" b="0" i="0" u="none" strike="noStrike">
                <a:solidFill>
                  <a:srgbClr val="1E2761"/>
                </a:solidFill>
                <a:latin typeface="Calibri"/>
              </a:rPr>
              <a:t>DCF Implied Value per Share ($)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Value per Share ($)</c:v>
                </c:pt>
              </c:strCache>
            </c:strRef>
          </c:tx>
          <c:spPr>
            <a:solidFill>
              <a:srgbClr val="C0392B"/>
            </a:solidFill>
            <a:effectLst/>
          </c:spPr>
          <c:invertIfNegative val="0"/>
          <c:dLbls>
            <c:numFmt formatCode="&quot;$&quot;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333333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Downside</c:v>
                  </c:pt>
                  <c:pt idx="1">
                    <c:v>Base Case</c:v>
                  </c:pt>
                  <c:pt idx="2">
                    <c:v>Turnaround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-4</c:v>
                </c:pt>
                <c:pt idx="1">
                  <c:v>-3</c:v>
                </c:pt>
                <c:pt idx="2">
                  <c:v>-1</c:v>
                </c:pt>
              </c:numCache>
            </c:numRef>
          </c:val>
        </c:ser>
        <c:dLbls>
          <c:numFmt formatCode="&quot;$&quot;#,##0" sourceLinked="0"/>
          <c:txPr>
            <a:bodyPr/>
            <a:lstStyle/>
            <a:p>
              <a:pPr>
                <a:defRPr b="0" i="0" strike="noStrike" sz="1200" u="none">
                  <a:solidFill>
                    <a:srgbClr val="333333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CCCCCC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55555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EDEDED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999999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chart" Target="/ppt/charts/chart2.xm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3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-1188720"/>
            <a:ext cx="4114800" cy="4114800"/>
          </a:xfrm>
          <a:prstGeom prst="ellipse">
            <a:avLst/>
          </a:prstGeom>
          <a:solidFill>
            <a:srgbClr val="263172"/>
          </a:solidFill>
          <a:ln/>
        </p:spPr>
      </p:sp>
      <p:sp>
        <p:nvSpPr>
          <p:cNvPr id="3" name="Shape 1"/>
          <p:cNvSpPr/>
          <p:nvPr/>
        </p:nvSpPr>
        <p:spPr>
          <a:xfrm>
            <a:off x="10607040" y="4572000"/>
            <a:ext cx="2926080" cy="2926080"/>
          </a:xfrm>
          <a:prstGeom prst="ellipse">
            <a:avLst/>
          </a:prstGeom>
          <a:solidFill>
            <a:srgbClr val="263172"/>
          </a:solidFill>
          <a:ln/>
        </p:spPr>
      </p:sp>
      <p:sp>
        <p:nvSpPr>
          <p:cNvPr id="4" name="Shape 2"/>
          <p:cNvSpPr/>
          <p:nvPr/>
        </p:nvSpPr>
        <p:spPr>
          <a:xfrm>
            <a:off x="-1097280" y="5120640"/>
            <a:ext cx="2743200" cy="2743200"/>
          </a:xfrm>
          <a:prstGeom prst="ellipse">
            <a:avLst/>
          </a:prstGeom>
          <a:solidFill>
            <a:srgbClr val="263172"/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196596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ACQUISITION DUE DILIGENCE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822960" y="2331720"/>
            <a:ext cx="100584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GreenPower Motor Company Inc.</a:t>
            </a:r>
            <a:endParaRPr lang="en-US" sz="4400" dirty="0"/>
          </a:p>
        </p:txBody>
      </p:sp>
      <p:sp>
        <p:nvSpPr>
          <p:cNvPr id="7" name="Text 5"/>
          <p:cNvSpPr/>
          <p:nvPr/>
        </p:nvSpPr>
        <p:spPr>
          <a:xfrm>
            <a:off x="822960" y="3337560"/>
            <a:ext cx="9144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Investment Committee Presentation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822960" y="4114800"/>
            <a:ext cx="2926080" cy="0"/>
          </a:xfrm>
          <a:prstGeom prst="line">
            <a:avLst/>
          </a:prstGeom>
          <a:noFill/>
          <a:ln w="19050">
            <a:solidFill>
              <a:srgbClr val="CADCF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22960" y="43434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Prepared for:  EcoCapital Investment Committee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822960" y="466344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Prepared by:  EcoCapital Investment Team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822960" y="49834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July 23, 2026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Executive Summary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1143000"/>
            <a:ext cx="11247120" cy="868680"/>
          </a:xfrm>
          <a:prstGeom prst="rect">
            <a:avLst/>
          </a:prstGeom>
          <a:solidFill>
            <a:srgbClr val="8E2A20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143000"/>
            <a:ext cx="112471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RECOMMENDATION:  PASS — DO NOT PROCEED AT CURRENT TERMS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457200" y="2240280"/>
            <a:ext cx="1124712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4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GreenPower's fundamentals have deteriorated sharply: FY2025 revenue fell 49% year-over-year to $19.8M, SG&amp;A now exceeds 100% of revenue, and the company reported negative shareholders' equity of -$1.6M. Our DCF analysis, run across three scenarios (Downside, Base Case, and Turnaround), produced negative implied equity values in every case — well below the current share price of $1.00. Absent a fundamental operational restructuring and a materially lower entry valuation, EcoCapital should decline this acquisition.</a:t>
            </a:r>
            <a:endParaRPr lang="en-US" sz="1450" dirty="0"/>
          </a:p>
        </p:txBody>
      </p:sp>
      <p:sp>
        <p:nvSpPr>
          <p:cNvPr id="6" name="Shape 4"/>
          <p:cNvSpPr/>
          <p:nvPr/>
        </p:nvSpPr>
        <p:spPr>
          <a:xfrm>
            <a:off x="457200" y="3977640"/>
            <a:ext cx="3566160" cy="1965960"/>
          </a:xfrm>
          <a:prstGeom prst="roundRect">
            <a:avLst>
              <a:gd name="adj" fmla="val 3721"/>
            </a:avLst>
          </a:prstGeom>
          <a:solidFill>
            <a:srgbClr val="F4F6FB"/>
          </a:solidFill>
          <a:ln/>
          <a:effectLst>
            <a:outerShdw sx="100000" sy="100000" kx="0" ky="0" algn="bl" rotWithShape="0" blurRad="76200" dist="25400" dir="5400000">
              <a:srgbClr val="888888">
                <a:alpha val="25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85800" y="4178808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00" kern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FY2025 REVENUE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685800" y="4636008"/>
            <a:ext cx="3108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C039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$19.8M</a:t>
            </a:r>
            <a:endParaRPr lang="en-US" sz="3400" dirty="0"/>
          </a:p>
        </p:txBody>
      </p:sp>
      <p:sp>
        <p:nvSpPr>
          <p:cNvPr id="9" name="Text 7"/>
          <p:cNvSpPr/>
          <p:nvPr/>
        </p:nvSpPr>
        <p:spPr>
          <a:xfrm>
            <a:off x="685800" y="544068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-49.4% YoY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343400" y="3977640"/>
            <a:ext cx="3566160" cy="1965960"/>
          </a:xfrm>
          <a:prstGeom prst="roundRect">
            <a:avLst>
              <a:gd name="adj" fmla="val 3721"/>
            </a:avLst>
          </a:prstGeom>
          <a:solidFill>
            <a:srgbClr val="F4F6FB"/>
          </a:solidFill>
          <a:ln/>
          <a:effectLst>
            <a:outerShdw sx="100000" sy="100000" kx="0" ky="0" algn="bl" rotWithShape="0" blurRad="76200" dist="25400" dir="5400000">
              <a:srgbClr val="888888">
                <a:alpha val="25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572000" y="4178808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00" kern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SHAREHOLDERS' EQUITY (FY25)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4572000" y="4636008"/>
            <a:ext cx="3108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C039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-$1.6M</a:t>
            </a:r>
            <a:endParaRPr lang="en-US" sz="3400" dirty="0"/>
          </a:p>
        </p:txBody>
      </p:sp>
      <p:sp>
        <p:nvSpPr>
          <p:cNvPr id="13" name="Text 11"/>
          <p:cNvSpPr/>
          <p:nvPr/>
        </p:nvSpPr>
        <p:spPr>
          <a:xfrm>
            <a:off x="4572000" y="544068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vs. +$11.6M FY24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8229600" y="3977640"/>
            <a:ext cx="3566160" cy="1965960"/>
          </a:xfrm>
          <a:prstGeom prst="roundRect">
            <a:avLst>
              <a:gd name="adj" fmla="val 3721"/>
            </a:avLst>
          </a:prstGeom>
          <a:solidFill>
            <a:srgbClr val="F4F6FB"/>
          </a:solidFill>
          <a:ln/>
          <a:effectLst>
            <a:outerShdw sx="100000" sy="100000" kx="0" ky="0" algn="bl" rotWithShape="0" blurRad="76200" dist="25400" dir="5400000">
              <a:srgbClr val="888888">
                <a:alpha val="25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8458200" y="4178808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00" kern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DCF VALUE / SHARE (ALL SCENARIOS)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8458200" y="4636008"/>
            <a:ext cx="3108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C039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-$4 to -$1</a:t>
            </a:r>
            <a:endParaRPr lang="en-US" sz="3400" dirty="0"/>
          </a:p>
        </p:txBody>
      </p:sp>
      <p:sp>
        <p:nvSpPr>
          <p:cNvPr id="17" name="Text 15"/>
          <p:cNvSpPr/>
          <p:nvPr/>
        </p:nvSpPr>
        <p:spPr>
          <a:xfrm>
            <a:off x="8458200" y="544068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vs. $1.00 current price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457200" y="6537960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AA0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GreenPower Motor Company — Acquisition Due Diligence  |  Confidential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11521440" y="653796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0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Company Overview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457200" y="1143000"/>
            <a:ext cx="6675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GreenPower Motor Company Inc. (Nasdaq: GP)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457200" y="1536192"/>
            <a:ext cx="667512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3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Founded in 2010 and headquartered in Vancouver, British Columbia, GreenPower designs, manufactures, and distributes purpose-built, all-electric, zero-emission medium- and heavy-duty commercial vehicles. The company uses a clean-sheet EV platform and sources components from global suppliers to serve transit, school, and cargo/delivery fleet operators across the U.S. and Canada.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457200" y="3246120"/>
            <a:ext cx="6675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100" kern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SEGMENTS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457200" y="3657600"/>
            <a:ext cx="201168" cy="201168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7" name="Text 5"/>
          <p:cNvSpPr/>
          <p:nvPr/>
        </p:nvSpPr>
        <p:spPr>
          <a:xfrm>
            <a:off x="777240" y="356616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Transit &amp; Shuttle: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2606040" y="3566160"/>
            <a:ext cx="4526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 Star Cab &amp; Chassis, passenger and mobility-plus configurations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457200" y="4279392"/>
            <a:ext cx="201168" cy="201168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0" name="Text 8"/>
          <p:cNvSpPr/>
          <p:nvPr/>
        </p:nvSpPr>
        <p:spPr>
          <a:xfrm>
            <a:off x="777240" y="418795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School Buses: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2606040" y="4187952"/>
            <a:ext cx="4526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 D BEAST and Nano BEAST all-electric school buses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457200" y="4901184"/>
            <a:ext cx="201168" cy="201168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3" name="Text 11"/>
          <p:cNvSpPr/>
          <p:nvPr/>
        </p:nvSpPr>
        <p:spPr>
          <a:xfrm>
            <a:off x="777240" y="4809744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Cargo &amp; Delivery: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2606040" y="4809744"/>
            <a:ext cx="4526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 Star Cargo, Cargo Plus and stakebed trucks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7452360" y="1143000"/>
            <a:ext cx="4251960" cy="5120640"/>
          </a:xfrm>
          <a:prstGeom prst="roundRect">
            <a:avLst>
              <a:gd name="adj" fmla="val 1720"/>
            </a:avLst>
          </a:prstGeom>
          <a:solidFill>
            <a:srgbClr val="F4F6FB"/>
          </a:solidFill>
          <a:ln/>
        </p:spPr>
      </p:sp>
      <p:sp>
        <p:nvSpPr>
          <p:cNvPr id="16" name="Text 14"/>
          <p:cNvSpPr/>
          <p:nvPr/>
        </p:nvSpPr>
        <p:spPr>
          <a:xfrm>
            <a:off x="7726680" y="1371600"/>
            <a:ext cx="3703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100" kern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 POSITION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7726680" y="1783080"/>
            <a:ext cx="3703320" cy="4297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15000"/>
              </a:lnSpc>
              <a:spcAft>
                <a:spcPts val="1200"/>
              </a:spcAft>
              <a:buSzPct val="100000"/>
              <a:buChar char="•"/>
            </a:pPr>
            <a:r>
              <a:rPr lang="en-US" sz="12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Niche player in the emerging medium/heavy-duty commercial EV segment</a:t>
            </a:r>
            <a:endParaRPr lang="en-US" sz="1250" dirty="0"/>
          </a:p>
          <a:p>
            <a:pPr marL="342900" indent="-342900">
              <a:lnSpc>
                <a:spcPct val="115000"/>
              </a:lnSpc>
              <a:spcAft>
                <a:spcPts val="1200"/>
              </a:spcAft>
              <a:buSzPct val="100000"/>
              <a:buChar char="•"/>
            </a:pPr>
            <a:r>
              <a:rPr lang="en-US" sz="12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 manufacturing operations in Southern California</a:t>
            </a:r>
            <a:endParaRPr lang="en-US" sz="1250" dirty="0"/>
          </a:p>
          <a:p>
            <a:pPr marL="342900" indent="-342900">
              <a:lnSpc>
                <a:spcPct val="115000"/>
              </a:lnSpc>
              <a:spcAft>
                <a:spcPts val="1200"/>
              </a:spcAft>
              <a:buSzPct val="100000"/>
              <a:buChar char="•"/>
            </a:pPr>
            <a:r>
              <a:rPr lang="en-US" sz="12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concentrated in school bus purchase orders — exposed to municipal budget cycles and EPA/state incentive programs</a:t>
            </a:r>
            <a:endParaRPr lang="en-US" sz="1250" dirty="0"/>
          </a:p>
          <a:p>
            <a:pPr marL="342900" indent="-342900">
              <a:lnSpc>
                <a:spcPct val="115000"/>
              </a:lnSpc>
              <a:spcAft>
                <a:spcPts val="1200"/>
              </a:spcAft>
              <a:buSzPct val="100000"/>
              <a:buChar char="•"/>
            </a:pPr>
            <a:r>
              <a:rPr lang="en-US" sz="12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Competes with Workhorse Group, BrightDrop, Phoenix Motor, Lightning eMotors and others — most better capitalized</a:t>
            </a:r>
            <a:endParaRPr lang="en-US" sz="1250" dirty="0"/>
          </a:p>
          <a:p>
            <a:pPr marL="342900" indent="-342900">
              <a:lnSpc>
                <a:spcPct val="115000"/>
              </a:lnSpc>
              <a:spcAft>
                <a:spcPts val="1200"/>
              </a:spcAft>
              <a:buSzPct val="100000"/>
              <a:buChar char="•"/>
            </a:pPr>
            <a:r>
              <a:rPr lang="en-US" sz="12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FY2025 revenue of $19.8M reflects a shrinking order book and intensifying competitive pressure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457200" y="6537960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AA0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GreenPower Motor Company — Acquisition Due Diligence  |  Confidential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11521440" y="653796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0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Financial Highlights</a:t>
            </a:r>
            <a:endParaRPr lang="en-US" sz="30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188720"/>
          <a:ext cx="7040880" cy="4206240"/>
        </p:xfrm>
        <a:graphic>
          <a:graphicData uri="http://schemas.openxmlformats.org/drawingml/2006/table">
            <a:tbl>
              <a:tblPr/>
              <a:tblGrid>
                <a:gridCol w="3200400"/>
                <a:gridCol w="1280160"/>
                <a:gridCol w="1280160"/>
                <a:gridCol w="1280160"/>
              </a:tblGrid>
              <a:tr h="4673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Ratio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FY2023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FY2024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FY2025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4673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Gross Profit Margin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18.26%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13.64%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11.07%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673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SG&amp;A / Revenue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51.73%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56.43%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101.36%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</a:tr>
              <a:tr h="4673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EBIT Margin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-33.47%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-42.78%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C039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-90.29%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673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Current Ratio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n/a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173.09%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141.22%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</a:tr>
              <a:tr h="4673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Inventory / Revenue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n/a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81.51%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129.00%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673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Accounts Receivable / Revenue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n/a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7.21%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2.73%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</a:tr>
              <a:tr h="4673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Interest Coverage (EBIT/Interest)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857.10%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1080.51%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823.53%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673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Debt-to-Equity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n/a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290.79%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C039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-2283.81%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</a:tr>
            </a:tbl>
          </a:graphicData>
        </a:graphic>
      </p:graphicFrame>
      <p:sp>
        <p:nvSpPr>
          <p:cNvPr id="4" name="Shape 1"/>
          <p:cNvSpPr/>
          <p:nvPr/>
        </p:nvSpPr>
        <p:spPr>
          <a:xfrm>
            <a:off x="7772400" y="1188720"/>
            <a:ext cx="3931920" cy="4206240"/>
          </a:xfrm>
          <a:prstGeom prst="roundRect">
            <a:avLst>
              <a:gd name="adj" fmla="val 1860"/>
            </a:avLst>
          </a:prstGeom>
          <a:solidFill>
            <a:srgbClr val="F4F6FB"/>
          </a:solidFill>
          <a:ln/>
        </p:spPr>
      </p:sp>
      <p:sp>
        <p:nvSpPr>
          <p:cNvPr id="5" name="Text 2"/>
          <p:cNvSpPr/>
          <p:nvPr/>
        </p:nvSpPr>
        <p:spPr>
          <a:xfrm>
            <a:off x="8046720" y="1417320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100" kern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3-YEAR TREND SUMMARY</a:t>
            </a:r>
            <a:endParaRPr lang="en-US" sz="1250" dirty="0"/>
          </a:p>
        </p:txBody>
      </p:sp>
      <p:sp>
        <p:nvSpPr>
          <p:cNvPr id="6" name="Text 3"/>
          <p:cNvSpPr/>
          <p:nvPr/>
        </p:nvSpPr>
        <p:spPr>
          <a:xfrm>
            <a:off x="8046720" y="1828800"/>
            <a:ext cx="3383280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20000"/>
              </a:lnSpc>
              <a:spcAft>
                <a:spcPts val="1400"/>
              </a:spcAft>
              <a:buSzPct val="100000"/>
              <a:buChar char="•"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Gross margin compressed from 18.3% to 11.1% as revenue scale declined</a:t>
            </a:r>
            <a:endParaRPr lang="en-US" sz="1200" dirty="0"/>
          </a:p>
          <a:p>
            <a:pPr marL="342900" indent="-342900">
              <a:lnSpc>
                <a:spcPct val="120000"/>
              </a:lnSpc>
              <a:spcAft>
                <a:spcPts val="1400"/>
              </a:spcAft>
              <a:buSzPct val="100000"/>
              <a:buChar char="•"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SG&amp;A ballooned to over 100% of revenue in FY2025 — cost base has not flexed with lower volume</a:t>
            </a:r>
            <a:endParaRPr lang="en-US" sz="1200" dirty="0"/>
          </a:p>
          <a:p>
            <a:pPr marL="342900" indent="-342900">
              <a:lnSpc>
                <a:spcPct val="120000"/>
              </a:lnSpc>
              <a:spcAft>
                <a:spcPts val="1400"/>
              </a:spcAft>
              <a:buSzPct val="100000"/>
              <a:buChar char="•"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Inventory now exceeds 129% of annual revenue, signaling excess/slow-moving stock</a:t>
            </a:r>
            <a:endParaRPr lang="en-US" sz="1200" dirty="0"/>
          </a:p>
          <a:p>
            <a:pPr marL="342900" indent="-342900">
              <a:lnSpc>
                <a:spcPct val="120000"/>
              </a:lnSpc>
              <a:spcAft>
                <a:spcPts val="1400"/>
              </a:spcAft>
              <a:buSzPct val="100000"/>
              <a:buChar char="•"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Debt-to-equity turned negative in FY2025 as accumulated losses erased the equity base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457200" y="5532120"/>
            <a:ext cx="11247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Note: EBIT margin sign corrected from source model (FY24/FY25 signs were inverted in the underlying workbook).</a:t>
            </a:r>
            <a:endParaRPr lang="en-US" sz="950" dirty="0"/>
          </a:p>
        </p:txBody>
      </p:sp>
      <p:sp>
        <p:nvSpPr>
          <p:cNvPr id="8" name="Text 5"/>
          <p:cNvSpPr/>
          <p:nvPr/>
        </p:nvSpPr>
        <p:spPr>
          <a:xfrm>
            <a:off x="457200" y="6537960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AA0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GreenPower Motor Company — Acquisition Due Diligence  |  Confidential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11521440" y="653796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0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Revenue and Profitability Trends</a:t>
            </a:r>
            <a:endParaRPr lang="en-US" sz="3000" dirty="0"/>
          </a:p>
        </p:txBody>
      </p:sp>
      <p:graphicFrame>
        <p:nvGraphicFramePr>
          <p:cNvPr id="3" name="Chart 0" descr=""/>
          <p:cNvGraphicFramePr/>
          <p:nvPr/>
        </p:nvGraphicFramePr>
        <p:xfrm>
          <a:off x="457200" y="1188720"/>
          <a:ext cx="6949440" cy="46634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graphicFrame>
        <p:nvGraphicFramePr>
          <p:cNvPr id="4" name="Chart 1" descr=""/>
          <p:cNvGraphicFramePr/>
          <p:nvPr/>
        </p:nvGraphicFramePr>
        <p:xfrm>
          <a:off x="7498080" y="1188720"/>
          <a:ext cx="4206240" cy="46634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5" name="Text 1"/>
          <p:cNvSpPr/>
          <p:nvPr/>
        </p:nvSpPr>
        <p:spPr>
          <a:xfrm>
            <a:off x="457200" y="5989320"/>
            <a:ext cx="11247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nearly halved in FY2025 while EBIT margin fell to -90%, indicating the cost base is deeply misaligned with current order volumes.</a:t>
            </a:r>
            <a:endParaRPr lang="en-US" sz="1200" dirty="0"/>
          </a:p>
        </p:txBody>
      </p:sp>
      <p:sp>
        <p:nvSpPr>
          <p:cNvPr id="6" name="Text 2"/>
          <p:cNvSpPr/>
          <p:nvPr/>
        </p:nvSpPr>
        <p:spPr>
          <a:xfrm>
            <a:off x="457200" y="6537960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AA0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GreenPower Motor Company — Acquisition Due Diligence  |  Confidential</a:t>
            </a:r>
            <a:endParaRPr lang="en-US" sz="900" dirty="0"/>
          </a:p>
        </p:txBody>
      </p:sp>
      <p:sp>
        <p:nvSpPr>
          <p:cNvPr id="7" name="Text 3"/>
          <p:cNvSpPr/>
          <p:nvPr/>
        </p:nvSpPr>
        <p:spPr>
          <a:xfrm>
            <a:off x="11521440" y="653796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0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Valuation Summary</a:t>
            </a:r>
            <a:endParaRPr lang="en-US" sz="3000" dirty="0"/>
          </a:p>
        </p:txBody>
      </p:sp>
      <p:graphicFrame>
        <p:nvGraphicFramePr>
          <p:cNvPr id="3" name="Chart 0" descr=""/>
          <p:cNvGraphicFramePr/>
          <p:nvPr/>
        </p:nvGraphicFramePr>
        <p:xfrm>
          <a:off x="457200" y="1143000"/>
          <a:ext cx="6309360" cy="41148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4" name="Shape 1"/>
          <p:cNvSpPr/>
          <p:nvPr/>
        </p:nvSpPr>
        <p:spPr>
          <a:xfrm>
            <a:off x="457200" y="3063240"/>
            <a:ext cx="6309360" cy="0"/>
          </a:xfrm>
          <a:prstGeom prst="line">
            <a:avLst/>
          </a:prstGeom>
          <a:noFill/>
          <a:ln w="15875">
            <a:solidFill>
              <a:srgbClr val="1E2761"/>
            </a:solidFill>
            <a:prstDash val="dash"/>
          </a:ln>
        </p:spPr>
      </p:sp>
      <p:sp>
        <p:nvSpPr>
          <p:cNvPr id="5" name="Text 2"/>
          <p:cNvSpPr/>
          <p:nvPr/>
        </p:nvSpPr>
        <p:spPr>
          <a:xfrm>
            <a:off x="457200" y="3127248"/>
            <a:ext cx="6309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 share price: $1.00</a:t>
            </a:r>
            <a:endParaRPr lang="en-US" sz="105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040880" y="1143000"/>
          <a:ext cx="4663440" cy="4114800"/>
        </p:xfrm>
        <a:graphic>
          <a:graphicData uri="http://schemas.openxmlformats.org/drawingml/2006/table">
            <a:tbl>
              <a:tblPr/>
              <a:tblGrid>
                <a:gridCol w="3017520"/>
                <a:gridCol w="1645920"/>
              </a:tblGrid>
              <a:tr h="51435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Metric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Base Case ($000s)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51435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Sum of PV of FCFs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C039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-18,485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1435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PV of Terminal Value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C039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-71,084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</a:tr>
              <a:tr h="51435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Entity Value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C039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-89,569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1435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Less: Total Debt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19,927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</a:tr>
              <a:tr h="51435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Less: Debt Equivalents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3,067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1435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Equity Value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C039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-112,563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</a:tr>
              <a:tr h="51435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Value per Share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C039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-$4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 3"/>
          <p:cNvSpPr/>
          <p:nvPr/>
        </p:nvSpPr>
        <p:spPr>
          <a:xfrm>
            <a:off x="457200" y="5486400"/>
            <a:ext cx="11247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WACC estimated at 11.0% (risk-free rate 4.0%, market risk premium 5.5%, levered beta 1.2). All three scenarios yield negative equity value, driven by persistent negative free cash flow and a capital structure heavily weighted toward debt (85% debt weight).</a:t>
            </a:r>
            <a:endParaRPr lang="en-US" sz="1200" dirty="0"/>
          </a:p>
        </p:txBody>
      </p:sp>
      <p:sp>
        <p:nvSpPr>
          <p:cNvPr id="8" name="Text 4"/>
          <p:cNvSpPr/>
          <p:nvPr/>
        </p:nvSpPr>
        <p:spPr>
          <a:xfrm>
            <a:off x="457200" y="6537960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AA0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GreenPower Motor Company — Acquisition Due Diligence  |  Confidential</a:t>
            </a:r>
            <a:endParaRPr lang="en-US" sz="900" dirty="0"/>
          </a:p>
        </p:txBody>
      </p:sp>
      <p:sp>
        <p:nvSpPr>
          <p:cNvPr id="9" name="Text 5"/>
          <p:cNvSpPr/>
          <p:nvPr/>
        </p:nvSpPr>
        <p:spPr>
          <a:xfrm>
            <a:off x="11521440" y="653796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0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Scenario Analysis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1188720"/>
            <a:ext cx="3566160" cy="4892040"/>
          </a:xfrm>
          <a:prstGeom prst="roundRect">
            <a:avLst>
              <a:gd name="adj" fmla="val 2051"/>
            </a:avLst>
          </a:prstGeom>
          <a:solidFill>
            <a:srgbClr val="F4F6FB"/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1188720"/>
            <a:ext cx="3566160" cy="594360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1188720"/>
            <a:ext cx="3566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Downside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685800" y="196596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ASSUMPTIONS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685800" y="2286000"/>
            <a:ext cx="21396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Growth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2596896" y="2286000"/>
            <a:ext cx="9692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5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15.0%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685800" y="2633472"/>
            <a:ext cx="21396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COGS / Revenue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2596896" y="2633472"/>
            <a:ext cx="9692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5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85.0%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685800" y="2980944"/>
            <a:ext cx="21396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SG&amp;A / Revenue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2596896" y="2980944"/>
            <a:ext cx="9692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5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95.0%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685800" y="3328416"/>
            <a:ext cx="21396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WACC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2596896" y="3328416"/>
            <a:ext cx="9692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5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14.5%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685800" y="3721608"/>
            <a:ext cx="3108960" cy="0"/>
          </a:xfrm>
          <a:prstGeom prst="line">
            <a:avLst/>
          </a:prstGeom>
          <a:noFill/>
          <a:ln w="9525">
            <a:solidFill>
              <a:srgbClr val="CCCCCC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85800" y="3858768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Equity Value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685800" y="4133088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C039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-$132,490K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685800" y="4590288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Value / Share vs. $1.00 current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685800" y="4864608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C039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-$4</a:t>
            </a:r>
            <a:endParaRPr lang="en-US" sz="2000" dirty="0"/>
          </a:p>
        </p:txBody>
      </p:sp>
      <p:sp>
        <p:nvSpPr>
          <p:cNvPr id="20" name="Shape 18"/>
          <p:cNvSpPr/>
          <p:nvPr/>
        </p:nvSpPr>
        <p:spPr>
          <a:xfrm>
            <a:off x="685800" y="5367528"/>
            <a:ext cx="3108960" cy="411480"/>
          </a:xfrm>
          <a:prstGeom prst="roundRect">
            <a:avLst>
              <a:gd name="adj" fmla="val 13333"/>
            </a:avLst>
          </a:prstGeom>
          <a:solidFill>
            <a:srgbClr val="8E2A20"/>
          </a:solidFill>
          <a:ln/>
        </p:spPr>
      </p:sp>
      <p:sp>
        <p:nvSpPr>
          <p:cNvPr id="21" name="Text 19"/>
          <p:cNvSpPr/>
          <p:nvPr/>
        </p:nvSpPr>
        <p:spPr>
          <a:xfrm>
            <a:off x="685800" y="5367528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4297680" y="1188720"/>
            <a:ext cx="3566160" cy="4892040"/>
          </a:xfrm>
          <a:prstGeom prst="roundRect">
            <a:avLst>
              <a:gd name="adj" fmla="val 2051"/>
            </a:avLst>
          </a:prstGeom>
          <a:solidFill>
            <a:srgbClr val="F4F6FB"/>
          </a:solidFill>
          <a:ln/>
        </p:spPr>
      </p:sp>
      <p:sp>
        <p:nvSpPr>
          <p:cNvPr id="23" name="Shape 21"/>
          <p:cNvSpPr/>
          <p:nvPr/>
        </p:nvSpPr>
        <p:spPr>
          <a:xfrm>
            <a:off x="4297680" y="1188720"/>
            <a:ext cx="3566160" cy="59436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24" name="Text 22"/>
          <p:cNvSpPr/>
          <p:nvPr/>
        </p:nvSpPr>
        <p:spPr>
          <a:xfrm>
            <a:off x="4297680" y="1188720"/>
            <a:ext cx="3566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Base Case</a:t>
            </a:r>
            <a:endParaRPr lang="en-US" sz="1800" dirty="0"/>
          </a:p>
        </p:txBody>
      </p:sp>
      <p:sp>
        <p:nvSpPr>
          <p:cNvPr id="25" name="Text 23"/>
          <p:cNvSpPr/>
          <p:nvPr/>
        </p:nvSpPr>
        <p:spPr>
          <a:xfrm>
            <a:off x="4526280" y="196596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ASSUMPTIONS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4526280" y="2286000"/>
            <a:ext cx="21396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Growth</a:t>
            </a:r>
            <a:endParaRPr lang="en-US" sz="1150" dirty="0"/>
          </a:p>
        </p:txBody>
      </p:sp>
      <p:sp>
        <p:nvSpPr>
          <p:cNvPr id="27" name="Text 25"/>
          <p:cNvSpPr/>
          <p:nvPr/>
        </p:nvSpPr>
        <p:spPr>
          <a:xfrm>
            <a:off x="6437376" y="2286000"/>
            <a:ext cx="9692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5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5.0%</a:t>
            </a:r>
            <a:endParaRPr lang="en-US" sz="1150" dirty="0"/>
          </a:p>
        </p:txBody>
      </p:sp>
      <p:sp>
        <p:nvSpPr>
          <p:cNvPr id="28" name="Text 26"/>
          <p:cNvSpPr/>
          <p:nvPr/>
        </p:nvSpPr>
        <p:spPr>
          <a:xfrm>
            <a:off x="4526280" y="2633472"/>
            <a:ext cx="21396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COGS / Revenue</a:t>
            </a:r>
            <a:endParaRPr lang="en-US" sz="1150" dirty="0"/>
          </a:p>
        </p:txBody>
      </p:sp>
      <p:sp>
        <p:nvSpPr>
          <p:cNvPr id="29" name="Text 27"/>
          <p:cNvSpPr/>
          <p:nvPr/>
        </p:nvSpPr>
        <p:spPr>
          <a:xfrm>
            <a:off x="6437376" y="2633472"/>
            <a:ext cx="9692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5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75.0%</a:t>
            </a:r>
            <a:endParaRPr lang="en-US" sz="1150" dirty="0"/>
          </a:p>
        </p:txBody>
      </p:sp>
      <p:sp>
        <p:nvSpPr>
          <p:cNvPr id="30" name="Text 28"/>
          <p:cNvSpPr/>
          <p:nvPr/>
        </p:nvSpPr>
        <p:spPr>
          <a:xfrm>
            <a:off x="4526280" y="2980944"/>
            <a:ext cx="21396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SG&amp;A / Revenue</a:t>
            </a:r>
            <a:endParaRPr lang="en-US" sz="1150" dirty="0"/>
          </a:p>
        </p:txBody>
      </p:sp>
      <p:sp>
        <p:nvSpPr>
          <p:cNvPr id="31" name="Text 29"/>
          <p:cNvSpPr/>
          <p:nvPr/>
        </p:nvSpPr>
        <p:spPr>
          <a:xfrm>
            <a:off x="6437376" y="2980944"/>
            <a:ext cx="9692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5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65.0%</a:t>
            </a:r>
            <a:endParaRPr lang="en-US" sz="1150" dirty="0"/>
          </a:p>
        </p:txBody>
      </p:sp>
      <p:sp>
        <p:nvSpPr>
          <p:cNvPr id="32" name="Text 30"/>
          <p:cNvSpPr/>
          <p:nvPr/>
        </p:nvSpPr>
        <p:spPr>
          <a:xfrm>
            <a:off x="4526280" y="3328416"/>
            <a:ext cx="21396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WACC</a:t>
            </a:r>
            <a:endParaRPr lang="en-US" sz="1150" dirty="0"/>
          </a:p>
        </p:txBody>
      </p:sp>
      <p:sp>
        <p:nvSpPr>
          <p:cNvPr id="33" name="Text 31"/>
          <p:cNvSpPr/>
          <p:nvPr/>
        </p:nvSpPr>
        <p:spPr>
          <a:xfrm>
            <a:off x="6437376" y="3328416"/>
            <a:ext cx="9692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5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12.0%</a:t>
            </a:r>
            <a:endParaRPr lang="en-US" sz="1150" dirty="0"/>
          </a:p>
        </p:txBody>
      </p:sp>
      <p:sp>
        <p:nvSpPr>
          <p:cNvPr id="34" name="Shape 32"/>
          <p:cNvSpPr/>
          <p:nvPr/>
        </p:nvSpPr>
        <p:spPr>
          <a:xfrm>
            <a:off x="4526280" y="3721608"/>
            <a:ext cx="3108960" cy="0"/>
          </a:xfrm>
          <a:prstGeom prst="line">
            <a:avLst/>
          </a:prstGeom>
          <a:noFill/>
          <a:ln w="9525">
            <a:solidFill>
              <a:srgbClr val="CCCCCC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526280" y="3858768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Equity Value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4526280" y="4133088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C039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-$90,000K</a:t>
            </a:r>
            <a:endParaRPr lang="en-US" sz="2000" dirty="0"/>
          </a:p>
        </p:txBody>
      </p:sp>
      <p:sp>
        <p:nvSpPr>
          <p:cNvPr id="37" name="Text 35"/>
          <p:cNvSpPr/>
          <p:nvPr/>
        </p:nvSpPr>
        <p:spPr>
          <a:xfrm>
            <a:off x="4526280" y="4590288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Value / Share vs. $1.00 current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4526280" y="4864608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C039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-$3</a:t>
            </a:r>
            <a:endParaRPr lang="en-US" sz="2000" dirty="0"/>
          </a:p>
        </p:txBody>
      </p:sp>
      <p:sp>
        <p:nvSpPr>
          <p:cNvPr id="39" name="Shape 37"/>
          <p:cNvSpPr/>
          <p:nvPr/>
        </p:nvSpPr>
        <p:spPr>
          <a:xfrm>
            <a:off x="4526280" y="5367528"/>
            <a:ext cx="3108960" cy="411480"/>
          </a:xfrm>
          <a:prstGeom prst="roundRect">
            <a:avLst>
              <a:gd name="adj" fmla="val 13333"/>
            </a:avLst>
          </a:prstGeom>
          <a:solidFill>
            <a:srgbClr val="8E2A20"/>
          </a:solidFill>
          <a:ln/>
        </p:spPr>
      </p:sp>
      <p:sp>
        <p:nvSpPr>
          <p:cNvPr id="40" name="Text 38"/>
          <p:cNvSpPr/>
          <p:nvPr/>
        </p:nvSpPr>
        <p:spPr>
          <a:xfrm>
            <a:off x="4526280" y="5367528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</a:t>
            </a:r>
            <a:endParaRPr lang="en-US" sz="1300" dirty="0"/>
          </a:p>
        </p:txBody>
      </p:sp>
      <p:sp>
        <p:nvSpPr>
          <p:cNvPr id="41" name="Shape 39"/>
          <p:cNvSpPr/>
          <p:nvPr/>
        </p:nvSpPr>
        <p:spPr>
          <a:xfrm>
            <a:off x="8138160" y="1188720"/>
            <a:ext cx="3566160" cy="4892040"/>
          </a:xfrm>
          <a:prstGeom prst="roundRect">
            <a:avLst>
              <a:gd name="adj" fmla="val 2051"/>
            </a:avLst>
          </a:prstGeom>
          <a:solidFill>
            <a:srgbClr val="F4F6FB"/>
          </a:solidFill>
          <a:ln/>
        </p:spPr>
      </p:sp>
      <p:sp>
        <p:nvSpPr>
          <p:cNvPr id="42" name="Shape 40"/>
          <p:cNvSpPr/>
          <p:nvPr/>
        </p:nvSpPr>
        <p:spPr>
          <a:xfrm>
            <a:off x="8138160" y="1188720"/>
            <a:ext cx="3566160" cy="594360"/>
          </a:xfrm>
          <a:prstGeom prst="rect">
            <a:avLst/>
          </a:prstGeom>
          <a:solidFill>
            <a:srgbClr val="2C5F2D"/>
          </a:solidFill>
          <a:ln/>
        </p:spPr>
      </p:sp>
      <p:sp>
        <p:nvSpPr>
          <p:cNvPr id="43" name="Text 41"/>
          <p:cNvSpPr/>
          <p:nvPr/>
        </p:nvSpPr>
        <p:spPr>
          <a:xfrm>
            <a:off x="8138160" y="1188720"/>
            <a:ext cx="3566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Turnaround</a:t>
            </a:r>
            <a:endParaRPr lang="en-US" sz="1800" dirty="0"/>
          </a:p>
        </p:txBody>
      </p:sp>
      <p:sp>
        <p:nvSpPr>
          <p:cNvPr id="44" name="Text 42"/>
          <p:cNvSpPr/>
          <p:nvPr/>
        </p:nvSpPr>
        <p:spPr>
          <a:xfrm>
            <a:off x="8366760" y="196596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ASSUMPTIONS</a:t>
            </a:r>
            <a:endParaRPr lang="en-US" sz="1050" dirty="0"/>
          </a:p>
        </p:txBody>
      </p:sp>
      <p:sp>
        <p:nvSpPr>
          <p:cNvPr id="45" name="Text 43"/>
          <p:cNvSpPr/>
          <p:nvPr/>
        </p:nvSpPr>
        <p:spPr>
          <a:xfrm>
            <a:off x="8366760" y="2286000"/>
            <a:ext cx="21396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Growth</a:t>
            </a:r>
            <a:endParaRPr lang="en-US" sz="1150" dirty="0"/>
          </a:p>
        </p:txBody>
      </p:sp>
      <p:sp>
        <p:nvSpPr>
          <p:cNvPr id="46" name="Text 44"/>
          <p:cNvSpPr/>
          <p:nvPr/>
        </p:nvSpPr>
        <p:spPr>
          <a:xfrm>
            <a:off x="10277856" y="2286000"/>
            <a:ext cx="9692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5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20.0%</a:t>
            </a:r>
            <a:endParaRPr lang="en-US" sz="1150" dirty="0"/>
          </a:p>
        </p:txBody>
      </p:sp>
      <p:sp>
        <p:nvSpPr>
          <p:cNvPr id="47" name="Text 45"/>
          <p:cNvSpPr/>
          <p:nvPr/>
        </p:nvSpPr>
        <p:spPr>
          <a:xfrm>
            <a:off x="8366760" y="2633472"/>
            <a:ext cx="21396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COGS / Revenue</a:t>
            </a:r>
            <a:endParaRPr lang="en-US" sz="1150" dirty="0"/>
          </a:p>
        </p:txBody>
      </p:sp>
      <p:sp>
        <p:nvSpPr>
          <p:cNvPr id="48" name="Text 46"/>
          <p:cNvSpPr/>
          <p:nvPr/>
        </p:nvSpPr>
        <p:spPr>
          <a:xfrm>
            <a:off x="10277856" y="2633472"/>
            <a:ext cx="9692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5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65.0%</a:t>
            </a:r>
            <a:endParaRPr lang="en-US" sz="1150" dirty="0"/>
          </a:p>
        </p:txBody>
      </p:sp>
      <p:sp>
        <p:nvSpPr>
          <p:cNvPr id="49" name="Text 47"/>
          <p:cNvSpPr/>
          <p:nvPr/>
        </p:nvSpPr>
        <p:spPr>
          <a:xfrm>
            <a:off x="8366760" y="2980944"/>
            <a:ext cx="21396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SG&amp;A / Revenue</a:t>
            </a:r>
            <a:endParaRPr lang="en-US" sz="1150" dirty="0"/>
          </a:p>
        </p:txBody>
      </p:sp>
      <p:sp>
        <p:nvSpPr>
          <p:cNvPr id="50" name="Text 48"/>
          <p:cNvSpPr/>
          <p:nvPr/>
        </p:nvSpPr>
        <p:spPr>
          <a:xfrm>
            <a:off x="10277856" y="2980944"/>
            <a:ext cx="9692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5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35.0%</a:t>
            </a:r>
            <a:endParaRPr lang="en-US" sz="1150" dirty="0"/>
          </a:p>
        </p:txBody>
      </p:sp>
      <p:sp>
        <p:nvSpPr>
          <p:cNvPr id="51" name="Text 49"/>
          <p:cNvSpPr/>
          <p:nvPr/>
        </p:nvSpPr>
        <p:spPr>
          <a:xfrm>
            <a:off x="8366760" y="3328416"/>
            <a:ext cx="21396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WACC</a:t>
            </a:r>
            <a:endParaRPr lang="en-US" sz="1150" dirty="0"/>
          </a:p>
        </p:txBody>
      </p:sp>
      <p:sp>
        <p:nvSpPr>
          <p:cNvPr id="52" name="Text 50"/>
          <p:cNvSpPr/>
          <p:nvPr/>
        </p:nvSpPr>
        <p:spPr>
          <a:xfrm>
            <a:off x="10277856" y="3328416"/>
            <a:ext cx="9692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5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9.5%</a:t>
            </a:r>
            <a:endParaRPr lang="en-US" sz="1150" dirty="0"/>
          </a:p>
        </p:txBody>
      </p:sp>
      <p:sp>
        <p:nvSpPr>
          <p:cNvPr id="53" name="Shape 51"/>
          <p:cNvSpPr/>
          <p:nvPr/>
        </p:nvSpPr>
        <p:spPr>
          <a:xfrm>
            <a:off x="8366760" y="3721608"/>
            <a:ext cx="3108960" cy="0"/>
          </a:xfrm>
          <a:prstGeom prst="line">
            <a:avLst/>
          </a:prstGeom>
          <a:noFill/>
          <a:ln w="9525">
            <a:solidFill>
              <a:srgbClr val="CCCCCC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8366760" y="3858768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Equity Value</a:t>
            </a:r>
            <a:endParaRPr lang="en-US" sz="1100" dirty="0"/>
          </a:p>
        </p:txBody>
      </p:sp>
      <p:sp>
        <p:nvSpPr>
          <p:cNvPr id="55" name="Text 53"/>
          <p:cNvSpPr/>
          <p:nvPr/>
        </p:nvSpPr>
        <p:spPr>
          <a:xfrm>
            <a:off x="8366760" y="4133088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C039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-$30,000K</a:t>
            </a:r>
            <a:endParaRPr lang="en-US" sz="2000" dirty="0"/>
          </a:p>
        </p:txBody>
      </p:sp>
      <p:sp>
        <p:nvSpPr>
          <p:cNvPr id="56" name="Text 54"/>
          <p:cNvSpPr/>
          <p:nvPr/>
        </p:nvSpPr>
        <p:spPr>
          <a:xfrm>
            <a:off x="8366760" y="4590288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Value / Share vs. $1.00 current</a:t>
            </a:r>
            <a:endParaRPr lang="en-US" sz="1100" dirty="0"/>
          </a:p>
        </p:txBody>
      </p:sp>
      <p:sp>
        <p:nvSpPr>
          <p:cNvPr id="57" name="Text 55"/>
          <p:cNvSpPr/>
          <p:nvPr/>
        </p:nvSpPr>
        <p:spPr>
          <a:xfrm>
            <a:off x="8366760" y="4864608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C039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-$1</a:t>
            </a:r>
            <a:endParaRPr lang="en-US" sz="2000" dirty="0"/>
          </a:p>
        </p:txBody>
      </p:sp>
      <p:sp>
        <p:nvSpPr>
          <p:cNvPr id="58" name="Shape 56"/>
          <p:cNvSpPr/>
          <p:nvPr/>
        </p:nvSpPr>
        <p:spPr>
          <a:xfrm>
            <a:off x="8366760" y="5367528"/>
            <a:ext cx="3108960" cy="411480"/>
          </a:xfrm>
          <a:prstGeom prst="roundRect">
            <a:avLst>
              <a:gd name="adj" fmla="val 13333"/>
            </a:avLst>
          </a:prstGeom>
          <a:solidFill>
            <a:srgbClr val="8E2A20"/>
          </a:solidFill>
          <a:ln/>
        </p:spPr>
      </p:sp>
      <p:sp>
        <p:nvSpPr>
          <p:cNvPr id="59" name="Text 57"/>
          <p:cNvSpPr/>
          <p:nvPr/>
        </p:nvSpPr>
        <p:spPr>
          <a:xfrm>
            <a:off x="8366760" y="5367528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</a:t>
            </a:r>
            <a:endParaRPr lang="en-US" sz="1300" dirty="0"/>
          </a:p>
        </p:txBody>
      </p:sp>
      <p:sp>
        <p:nvSpPr>
          <p:cNvPr id="60" name="Text 58"/>
          <p:cNvSpPr/>
          <p:nvPr/>
        </p:nvSpPr>
        <p:spPr>
          <a:xfrm>
            <a:off x="457200" y="6537960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AA0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GreenPower Motor Company — Acquisition Due Diligence  |  Confidential</a:t>
            </a:r>
            <a:endParaRPr lang="en-US" sz="900" dirty="0"/>
          </a:p>
        </p:txBody>
      </p:sp>
      <p:sp>
        <p:nvSpPr>
          <p:cNvPr id="61" name="Text 59"/>
          <p:cNvSpPr/>
          <p:nvPr/>
        </p:nvSpPr>
        <p:spPr>
          <a:xfrm>
            <a:off x="11521440" y="653796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0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Risks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1188720"/>
            <a:ext cx="11247120" cy="896112"/>
          </a:xfrm>
          <a:prstGeom prst="roundRect">
            <a:avLst>
              <a:gd name="adj" fmla="val 6122"/>
            </a:avLst>
          </a:prstGeom>
          <a:solidFill>
            <a:srgbClr val="F4F6FB"/>
          </a:solidFill>
          <a:ln w="9525">
            <a:solidFill>
              <a:srgbClr val="E3E6EE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85800" y="1472184"/>
            <a:ext cx="329184" cy="329184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5" name="Text 3"/>
          <p:cNvSpPr/>
          <p:nvPr/>
        </p:nvSpPr>
        <p:spPr>
          <a:xfrm>
            <a:off x="685800" y="1472184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1234440" y="1298448"/>
            <a:ext cx="7680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Negative shareholders' equity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1234440" y="1627632"/>
            <a:ext cx="7680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Equity turned negative (-$1.6M) in FY2025 as accumulated losses exceeded paid-in capital.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9189720" y="1435608"/>
            <a:ext cx="1417320" cy="402336"/>
          </a:xfrm>
          <a:prstGeom prst="roundRect">
            <a:avLst>
              <a:gd name="adj" fmla="val 50000"/>
            </a:avLst>
          </a:prstGeom>
          <a:solidFill>
            <a:srgbClr val="C0392B"/>
          </a:solidFill>
          <a:ln/>
        </p:spPr>
      </p:sp>
      <p:sp>
        <p:nvSpPr>
          <p:cNvPr id="9" name="Text 7"/>
          <p:cNvSpPr/>
          <p:nvPr/>
        </p:nvSpPr>
        <p:spPr>
          <a:xfrm>
            <a:off x="9189720" y="1435608"/>
            <a:ext cx="14173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57200" y="2194560"/>
            <a:ext cx="11247120" cy="896112"/>
          </a:xfrm>
          <a:prstGeom prst="roundRect">
            <a:avLst>
              <a:gd name="adj" fmla="val 6122"/>
            </a:avLst>
          </a:prstGeom>
          <a:solidFill>
            <a:srgbClr val="FFFFFF"/>
          </a:solidFill>
          <a:ln w="9525">
            <a:solidFill>
              <a:srgbClr val="E3E6EE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85800" y="2478024"/>
            <a:ext cx="329184" cy="329184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2" name="Text 10"/>
          <p:cNvSpPr/>
          <p:nvPr/>
        </p:nvSpPr>
        <p:spPr>
          <a:xfrm>
            <a:off x="685800" y="2478024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1234440" y="2304288"/>
            <a:ext cx="7680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decline &amp; order concentration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1234440" y="2633472"/>
            <a:ext cx="7680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fell 49% YoY; heavy reliance on school bus purchase orders exposed to municipal budgets and incentive programs.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9189720" y="2441448"/>
            <a:ext cx="1417320" cy="402336"/>
          </a:xfrm>
          <a:prstGeom prst="roundRect">
            <a:avLst>
              <a:gd name="adj" fmla="val 50000"/>
            </a:avLst>
          </a:prstGeom>
          <a:solidFill>
            <a:srgbClr val="C0392B"/>
          </a:solidFill>
          <a:ln/>
        </p:spPr>
      </p:sp>
      <p:sp>
        <p:nvSpPr>
          <p:cNvPr id="16" name="Text 14"/>
          <p:cNvSpPr/>
          <p:nvPr/>
        </p:nvSpPr>
        <p:spPr>
          <a:xfrm>
            <a:off x="9189720" y="2441448"/>
            <a:ext cx="14173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57200" y="3200400"/>
            <a:ext cx="11247120" cy="896112"/>
          </a:xfrm>
          <a:prstGeom prst="roundRect">
            <a:avLst>
              <a:gd name="adj" fmla="val 6122"/>
            </a:avLst>
          </a:prstGeom>
          <a:solidFill>
            <a:srgbClr val="F4F6FB"/>
          </a:solidFill>
          <a:ln w="9525">
            <a:solidFill>
              <a:srgbClr val="E3E6EE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85800" y="3483864"/>
            <a:ext cx="329184" cy="329184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9" name="Text 17"/>
          <p:cNvSpPr/>
          <p:nvPr/>
        </p:nvSpPr>
        <p:spPr>
          <a:xfrm>
            <a:off x="685800" y="3483864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1234440" y="3310128"/>
            <a:ext cx="7680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 structure misaligned with revenue</a:t>
            </a:r>
            <a:endParaRPr lang="en-US" sz="1350" dirty="0"/>
          </a:p>
        </p:txBody>
      </p:sp>
      <p:sp>
        <p:nvSpPr>
          <p:cNvPr id="21" name="Text 19"/>
          <p:cNvSpPr/>
          <p:nvPr/>
        </p:nvSpPr>
        <p:spPr>
          <a:xfrm>
            <a:off x="1234440" y="3639312"/>
            <a:ext cx="7680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SG&amp;A reached 101% of revenue in FY2025 — the cost base has not been right-sized for lower volumes.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9189720" y="3447288"/>
            <a:ext cx="1417320" cy="402336"/>
          </a:xfrm>
          <a:prstGeom prst="roundRect">
            <a:avLst>
              <a:gd name="adj" fmla="val 50000"/>
            </a:avLst>
          </a:prstGeom>
          <a:solidFill>
            <a:srgbClr val="C0392B"/>
          </a:solidFill>
          <a:ln/>
        </p:spPr>
      </p:sp>
      <p:sp>
        <p:nvSpPr>
          <p:cNvPr id="23" name="Text 21"/>
          <p:cNvSpPr/>
          <p:nvPr/>
        </p:nvSpPr>
        <p:spPr>
          <a:xfrm>
            <a:off x="9189720" y="3447288"/>
            <a:ext cx="14173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457200" y="4206240"/>
            <a:ext cx="11247120" cy="896112"/>
          </a:xfrm>
          <a:prstGeom prst="roundRect">
            <a:avLst>
              <a:gd name="adj" fmla="val 6122"/>
            </a:avLst>
          </a:prstGeom>
          <a:solidFill>
            <a:srgbClr val="FFFFFF"/>
          </a:solidFill>
          <a:ln w="9525">
            <a:solidFill>
              <a:srgbClr val="E3E6EE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685800" y="4489704"/>
            <a:ext cx="329184" cy="329184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26" name="Text 24"/>
          <p:cNvSpPr/>
          <p:nvPr/>
        </p:nvSpPr>
        <p:spPr>
          <a:xfrm>
            <a:off x="685800" y="4489704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1234440" y="4315968"/>
            <a:ext cx="7680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Leverage &amp; capital structure</a:t>
            </a:r>
            <a:endParaRPr lang="en-US" sz="1350" dirty="0"/>
          </a:p>
        </p:txBody>
      </p:sp>
      <p:sp>
        <p:nvSpPr>
          <p:cNvPr id="28" name="Text 26"/>
          <p:cNvSpPr/>
          <p:nvPr/>
        </p:nvSpPr>
        <p:spPr>
          <a:xfrm>
            <a:off x="1234440" y="4645152"/>
            <a:ext cx="7680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Balance sheet is debt-funded (line of credit, term loan, related-party loans) against a shrinking equity cushion.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9189720" y="4453128"/>
            <a:ext cx="1417320" cy="402336"/>
          </a:xfrm>
          <a:prstGeom prst="roundRect">
            <a:avLst>
              <a:gd name="adj" fmla="val 50000"/>
            </a:avLst>
          </a:prstGeom>
          <a:solidFill>
            <a:srgbClr val="C0392B"/>
          </a:solidFill>
          <a:ln/>
        </p:spPr>
      </p:sp>
      <p:sp>
        <p:nvSpPr>
          <p:cNvPr id="30" name="Text 28"/>
          <p:cNvSpPr/>
          <p:nvPr/>
        </p:nvSpPr>
        <p:spPr>
          <a:xfrm>
            <a:off x="9189720" y="4453128"/>
            <a:ext cx="14173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457200" y="5212080"/>
            <a:ext cx="11247120" cy="896112"/>
          </a:xfrm>
          <a:prstGeom prst="roundRect">
            <a:avLst>
              <a:gd name="adj" fmla="val 6122"/>
            </a:avLst>
          </a:prstGeom>
          <a:solidFill>
            <a:srgbClr val="F4F6FB"/>
          </a:solidFill>
          <a:ln w="9525">
            <a:solidFill>
              <a:srgbClr val="E3E6EE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685800" y="5495544"/>
            <a:ext cx="329184" cy="329184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33" name="Text 31"/>
          <p:cNvSpPr/>
          <p:nvPr/>
        </p:nvSpPr>
        <p:spPr>
          <a:xfrm>
            <a:off x="685800" y="5495544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1234440" y="5321808"/>
            <a:ext cx="7680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Persistent negative operating cash flow</a:t>
            </a:r>
            <a:endParaRPr lang="en-US" sz="1350" dirty="0"/>
          </a:p>
        </p:txBody>
      </p:sp>
      <p:sp>
        <p:nvSpPr>
          <p:cNvPr id="35" name="Text 33"/>
          <p:cNvSpPr/>
          <p:nvPr/>
        </p:nvSpPr>
        <p:spPr>
          <a:xfrm>
            <a:off x="1234440" y="5650992"/>
            <a:ext cx="7680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Operations consumed $6.0M of cash in FY2025, requiring continued external financing to fund the business.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9189720" y="5458968"/>
            <a:ext cx="1417320" cy="402336"/>
          </a:xfrm>
          <a:prstGeom prst="roundRect">
            <a:avLst>
              <a:gd name="adj" fmla="val 50000"/>
            </a:avLst>
          </a:prstGeom>
          <a:solidFill>
            <a:srgbClr val="D68910"/>
          </a:solidFill>
          <a:ln/>
        </p:spPr>
      </p:sp>
      <p:sp>
        <p:nvSpPr>
          <p:cNvPr id="37" name="Text 35"/>
          <p:cNvSpPr/>
          <p:nvPr/>
        </p:nvSpPr>
        <p:spPr>
          <a:xfrm>
            <a:off x="9189720" y="5458968"/>
            <a:ext cx="14173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MEDIUM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457200" y="6537960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AA0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GreenPower Motor Company — Acquisition Due Diligence  |  Confidential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11521440" y="653796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0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Value Creation Roadmap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457200" y="960120"/>
            <a:ext cx="11247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Operational improvements that would need to precede any renewed valuation discussion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457200" y="1600200"/>
            <a:ext cx="3566160" cy="4480560"/>
          </a:xfrm>
          <a:prstGeom prst="roundRect">
            <a:avLst>
              <a:gd name="adj" fmla="val 2051"/>
            </a:avLst>
          </a:prstGeom>
          <a:solidFill>
            <a:srgbClr val="F4F6FB"/>
          </a:solidFill>
          <a:ln/>
        </p:spPr>
      </p:sp>
      <p:sp>
        <p:nvSpPr>
          <p:cNvPr id="5" name="Shape 3"/>
          <p:cNvSpPr/>
          <p:nvPr/>
        </p:nvSpPr>
        <p:spPr>
          <a:xfrm>
            <a:off x="685800" y="1856232"/>
            <a:ext cx="457200" cy="457200"/>
          </a:xfrm>
          <a:prstGeom prst="ellipse">
            <a:avLst/>
          </a:prstGeom>
          <a:solidFill>
            <a:srgbClr val="C0392B"/>
          </a:solidFill>
          <a:ln/>
        </p:spPr>
      </p:sp>
      <p:sp>
        <p:nvSpPr>
          <p:cNvPr id="6" name="Text 4"/>
          <p:cNvSpPr/>
          <p:nvPr/>
        </p:nvSpPr>
        <p:spPr>
          <a:xfrm>
            <a:off x="685800" y="185623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1280160" y="1856232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0–6 Months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731520" y="2560320"/>
            <a:ext cx="301752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20000"/>
              </a:lnSpc>
              <a:spcAft>
                <a:spcPts val="1400"/>
              </a:spcAft>
              <a:buSzPct val="100000"/>
              <a:buChar char="•"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Right-size SG&amp;A to restore alignment with revenue run-rate</a:t>
            </a:r>
            <a:endParaRPr lang="en-US" sz="1200" dirty="0"/>
          </a:p>
          <a:p>
            <a:pPr marL="342900" indent="-342900">
              <a:lnSpc>
                <a:spcPct val="120000"/>
              </a:lnSpc>
              <a:spcAft>
                <a:spcPts val="1400"/>
              </a:spcAft>
              <a:buSzPct val="100000"/>
              <a:buChar char="•"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Liquidate excess/slow-moving inventory (129% of revenue)</a:t>
            </a:r>
            <a:endParaRPr lang="en-US" sz="1200" dirty="0"/>
          </a:p>
          <a:p>
            <a:pPr marL="342900" indent="-342900">
              <a:lnSpc>
                <a:spcPct val="120000"/>
              </a:lnSpc>
              <a:spcAft>
                <a:spcPts val="1400"/>
              </a:spcAft>
              <a:buSzPct val="100000"/>
              <a:buChar char="•"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Renegotiate or refinance short-term line of credit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297680" y="1600200"/>
            <a:ext cx="3566160" cy="4480560"/>
          </a:xfrm>
          <a:prstGeom prst="roundRect">
            <a:avLst>
              <a:gd name="adj" fmla="val 2051"/>
            </a:avLst>
          </a:prstGeom>
          <a:solidFill>
            <a:srgbClr val="F4F6FB"/>
          </a:solidFill>
          <a:ln/>
        </p:spPr>
      </p:sp>
      <p:sp>
        <p:nvSpPr>
          <p:cNvPr id="10" name="Shape 8"/>
          <p:cNvSpPr/>
          <p:nvPr/>
        </p:nvSpPr>
        <p:spPr>
          <a:xfrm>
            <a:off x="4526280" y="1856232"/>
            <a:ext cx="457200" cy="457200"/>
          </a:xfrm>
          <a:prstGeom prst="ellipse">
            <a:avLst/>
          </a:prstGeom>
          <a:solidFill>
            <a:srgbClr val="D68910"/>
          </a:solidFill>
          <a:ln/>
        </p:spPr>
      </p:sp>
      <p:sp>
        <p:nvSpPr>
          <p:cNvPr id="11" name="Text 9"/>
          <p:cNvSpPr/>
          <p:nvPr/>
        </p:nvSpPr>
        <p:spPr>
          <a:xfrm>
            <a:off x="4526280" y="185623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5120640" y="1856232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6–12 Months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4572000" y="2560320"/>
            <a:ext cx="301752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20000"/>
              </a:lnSpc>
              <a:spcAft>
                <a:spcPts val="1400"/>
              </a:spcAft>
              <a:buSzPct val="100000"/>
              <a:buChar char="•"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Diversify order book beyond school bus segment</a:t>
            </a:r>
            <a:endParaRPr lang="en-US" sz="1200" dirty="0"/>
          </a:p>
          <a:p>
            <a:pPr marL="342900" indent="-342900">
              <a:lnSpc>
                <a:spcPct val="120000"/>
              </a:lnSpc>
              <a:spcAft>
                <a:spcPts val="1400"/>
              </a:spcAft>
              <a:buSzPct val="100000"/>
              <a:buChar char="•"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Improve receivables collection and working capital cycle</a:t>
            </a:r>
            <a:endParaRPr lang="en-US" sz="1200" dirty="0"/>
          </a:p>
          <a:p>
            <a:pPr marL="342900" indent="-342900">
              <a:lnSpc>
                <a:spcPct val="120000"/>
              </a:lnSpc>
              <a:spcAft>
                <a:spcPts val="1400"/>
              </a:spcAft>
              <a:buSzPct val="100000"/>
              <a:buChar char="•"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Stabilize gross margin above 15% through supplier renegotiation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8138160" y="1600200"/>
            <a:ext cx="3566160" cy="4480560"/>
          </a:xfrm>
          <a:prstGeom prst="roundRect">
            <a:avLst>
              <a:gd name="adj" fmla="val 2051"/>
            </a:avLst>
          </a:prstGeom>
          <a:solidFill>
            <a:srgbClr val="F4F6FB"/>
          </a:solidFill>
          <a:ln/>
        </p:spPr>
      </p:sp>
      <p:sp>
        <p:nvSpPr>
          <p:cNvPr id="15" name="Shape 13"/>
          <p:cNvSpPr/>
          <p:nvPr/>
        </p:nvSpPr>
        <p:spPr>
          <a:xfrm>
            <a:off x="8366760" y="1856232"/>
            <a:ext cx="457200" cy="457200"/>
          </a:xfrm>
          <a:prstGeom prst="ellipse">
            <a:avLst/>
          </a:prstGeom>
          <a:solidFill>
            <a:srgbClr val="2C5F2D"/>
          </a:solidFill>
          <a:ln/>
        </p:spPr>
      </p:sp>
      <p:sp>
        <p:nvSpPr>
          <p:cNvPr id="16" name="Text 14"/>
          <p:cNvSpPr/>
          <p:nvPr/>
        </p:nvSpPr>
        <p:spPr>
          <a:xfrm>
            <a:off x="8366760" y="185623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8961120" y="1856232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12–24 Months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8412480" y="2560320"/>
            <a:ext cx="301752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20000"/>
              </a:lnSpc>
              <a:spcAft>
                <a:spcPts val="1400"/>
              </a:spcAft>
              <a:buSzPct val="100000"/>
              <a:buChar char="•"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 to positive operating cash flow</a:t>
            </a:r>
            <a:endParaRPr lang="en-US" sz="1200" dirty="0"/>
          </a:p>
          <a:p>
            <a:pPr marL="342900" indent="-342900">
              <a:lnSpc>
                <a:spcPct val="120000"/>
              </a:lnSpc>
              <a:spcAft>
                <a:spcPts val="1400"/>
              </a:spcAft>
              <a:buSzPct val="100000"/>
              <a:buChar char="•"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Rebuild shareholders' equity through disciplined capital allocation</a:t>
            </a:r>
            <a:endParaRPr lang="en-US" sz="1200" dirty="0"/>
          </a:p>
          <a:p>
            <a:pPr marL="342900" indent="-342900">
              <a:lnSpc>
                <a:spcPct val="120000"/>
              </a:lnSpc>
              <a:spcAft>
                <a:spcPts val="1400"/>
              </a:spcAft>
              <a:buSzPct val="100000"/>
              <a:buChar char="•"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Re-open valuation discussion at a revised, de-risked entry price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457200" y="6537960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AA0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GreenPower Motor Company — Acquisition Due Diligence  |  Confidential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11521440" y="653796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0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280160" y="-1463040"/>
            <a:ext cx="3840480" cy="3840480"/>
          </a:xfrm>
          <a:prstGeom prst="ellipse">
            <a:avLst/>
          </a:prstGeom>
          <a:solidFill>
            <a:srgbClr val="263172"/>
          </a:solidFill>
          <a:ln/>
        </p:spPr>
      </p:sp>
      <p:sp>
        <p:nvSpPr>
          <p:cNvPr id="3" name="Shape 1"/>
          <p:cNvSpPr/>
          <p:nvPr/>
        </p:nvSpPr>
        <p:spPr>
          <a:xfrm>
            <a:off x="10241280" y="4937760"/>
            <a:ext cx="3291840" cy="3291840"/>
          </a:xfrm>
          <a:prstGeom prst="ellipse">
            <a:avLst/>
          </a:prstGeom>
          <a:solidFill>
            <a:srgbClr val="263172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45720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Investment Recommendation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48640" y="1280160"/>
            <a:ext cx="5120640" cy="1005840"/>
          </a:xfrm>
          <a:prstGeom prst="roundRect">
            <a:avLst>
              <a:gd name="adj" fmla="val 7273"/>
            </a:avLst>
          </a:prstGeom>
          <a:solidFill>
            <a:srgbClr val="C0392B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1280160"/>
            <a:ext cx="51206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DECISION:  PASS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548640" y="2423160"/>
            <a:ext cx="5120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5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Decline the acquisition of GreenPower Motor Company at current terms and valuation.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548640" y="3291840"/>
            <a:ext cx="5120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10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CONDITIONS FOR RECONSIDERATION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548640" y="3657600"/>
            <a:ext cx="512064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SG&amp;A reduced to below 70% of revenue on a sustained basis</a:t>
            </a:r>
            <a:endParaRPr lang="en-US" sz="1200" dirty="0"/>
          </a:p>
          <a:p>
            <a:pPr marL="342900" indent="-3429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Positive shareholders' equity restored</a:t>
            </a:r>
            <a:endParaRPr lang="en-US" sz="1200" dirty="0"/>
          </a:p>
          <a:p>
            <a:pPr marL="342900" indent="-3429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base diversified beyond school bus concentration</a:t>
            </a:r>
            <a:endParaRPr lang="en-US" sz="1200" dirty="0"/>
          </a:p>
          <a:p>
            <a:pPr marL="342900" indent="-3429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Entry valuation renegotiated to reflect a positive DCF range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126480" y="1280160"/>
            <a:ext cx="5486400" cy="4572000"/>
          </a:xfrm>
          <a:prstGeom prst="roundRect">
            <a:avLst>
              <a:gd name="adj" fmla="val 1600"/>
            </a:avLst>
          </a:prstGeom>
          <a:solidFill>
            <a:srgbClr val="263172"/>
          </a:solidFill>
          <a:ln/>
        </p:spPr>
      </p:sp>
      <p:sp>
        <p:nvSpPr>
          <p:cNvPr id="11" name="Text 9"/>
          <p:cNvSpPr/>
          <p:nvPr/>
        </p:nvSpPr>
        <p:spPr>
          <a:xfrm>
            <a:off x="6446520" y="150876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STEPS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6446520" y="2057400"/>
            <a:ext cx="384048" cy="384048"/>
          </a:xfrm>
          <a:prstGeom prst="ellipse">
            <a:avLst/>
          </a:prstGeom>
          <a:solidFill>
            <a:srgbClr val="CADCFC"/>
          </a:solidFill>
          <a:ln/>
        </p:spPr>
      </p:sp>
      <p:sp>
        <p:nvSpPr>
          <p:cNvPr id="13" name="Text 11"/>
          <p:cNvSpPr/>
          <p:nvPr/>
        </p:nvSpPr>
        <p:spPr>
          <a:xfrm>
            <a:off x="6446520" y="20574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6995160" y="2029968"/>
            <a:ext cx="4251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Communicate PASS decision to GreenPower and EcoCapital deal team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6446520" y="2953512"/>
            <a:ext cx="384048" cy="384048"/>
          </a:xfrm>
          <a:prstGeom prst="ellipse">
            <a:avLst/>
          </a:prstGeom>
          <a:solidFill>
            <a:srgbClr val="CADCFC"/>
          </a:solidFill>
          <a:ln/>
        </p:spPr>
      </p:sp>
      <p:sp>
        <p:nvSpPr>
          <p:cNvPr id="16" name="Text 14"/>
          <p:cNvSpPr/>
          <p:nvPr/>
        </p:nvSpPr>
        <p:spPr>
          <a:xfrm>
            <a:off x="6446520" y="295351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6995160" y="2926080"/>
            <a:ext cx="4251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Revisit in 12–24 months if restructuring milestones in the value creation roadmap are achieved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6446520" y="3849624"/>
            <a:ext cx="384048" cy="384048"/>
          </a:xfrm>
          <a:prstGeom prst="ellipse">
            <a:avLst/>
          </a:prstGeom>
          <a:solidFill>
            <a:srgbClr val="CADCFC"/>
          </a:solidFill>
          <a:ln/>
        </p:spPr>
      </p:sp>
      <p:sp>
        <p:nvSpPr>
          <p:cNvPr id="19" name="Text 17"/>
          <p:cNvSpPr/>
          <p:nvPr/>
        </p:nvSpPr>
        <p:spPr>
          <a:xfrm>
            <a:off x="6446520" y="384962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6995160" y="3822192"/>
            <a:ext cx="4251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 GreenPower's quarterly filings for evidence of margin recovery and equity stabilization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6446520" y="4745736"/>
            <a:ext cx="384048" cy="384048"/>
          </a:xfrm>
          <a:prstGeom prst="ellipse">
            <a:avLst/>
          </a:prstGeom>
          <a:solidFill>
            <a:srgbClr val="CADCFC"/>
          </a:solidFill>
          <a:ln/>
        </p:spPr>
      </p:sp>
      <p:sp>
        <p:nvSpPr>
          <p:cNvPr id="22" name="Text 20"/>
          <p:cNvSpPr/>
          <p:nvPr/>
        </p:nvSpPr>
        <p:spPr>
          <a:xfrm>
            <a:off x="6446520" y="474573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6995160" y="4718304"/>
            <a:ext cx="4251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Maintain relationship for potential distressed-asset or re-priced opportunity</a:t>
            </a:r>
            <a:endParaRPr lang="en-US" sz="1250" dirty="0"/>
          </a:p>
        </p:txBody>
      </p:sp>
      <p:sp>
        <p:nvSpPr>
          <p:cNvPr id="24" name="Text 22"/>
          <p:cNvSpPr/>
          <p:nvPr/>
        </p:nvSpPr>
        <p:spPr>
          <a:xfrm>
            <a:off x="457200" y="6537960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AA5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GreenPower Motor Company — Acquisition Due Diligence  |  Confidential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11521440" y="653796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5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2026-07-23T19:18:27Z</dcterms:created>
  <dcterms:modified xsi:type="dcterms:W3CDTF">2026-07-23T19:18:27Z</dcterms:modified>
</cp:coreProperties>
</file>